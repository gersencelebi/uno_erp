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UNO_ERP Executive KPI Dashboard Proposal</a:t>
            </a:r>
          </a:p>
          <a:p>
            <a:pPr>
              <a:spcBef>
                <a:spcPts val="1500"/>
              </a:spcBef>
              <a:defRPr sz="2000">
                <a:solidFill>
                  <a:srgbClr val="94A3B8"/>
                </a:solidFill>
              </a:defRPr>
            </a:pPr>
            <a:r>
              <a:t>24 High-Impact Key Performance Indicators for Tour Operator Excellence &amp; Profit Optimization</a:t>
            </a:r>
          </a:p>
          <a:p>
            <a:pPr>
              <a:spcBef>
                <a:spcPts val="4000"/>
              </a:spcBef>
              <a:defRPr sz="1400">
                <a:solidFill>
                  <a:srgbClr val="10B981"/>
                </a:solidFill>
              </a:defRPr>
            </a:pPr>
            <a:r>
              <a:t>Prepared for: Executive Leadership &amp; Owner of UNO |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Strategic KPI Architecture for UNO Tour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74320"/>
            <a:ext cx="20116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EXECUTIVE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1. Operational Efficiency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6 KPIs focused on departure readiness, rooming accuracy, guide utilization, and supplier SLAs.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79" y="1371600"/>
            <a:ext cx="530352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2. Financial &amp; Profitability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6 KPIs tracking excursion sales, guide commission efficiency, cost/pax variance, and gross margin.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530352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3. Risk &amp; Governance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6 KPIs monitoring cash remittance lags, unassigned resources, audit overrides, and passenger compliance.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79" y="3840480"/>
            <a:ext cx="530352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7C3AED"/>
                </a:solidFill>
              </a:defRPr>
            </a:pPr>
            <a:r>
              <a:t>4. Growth &amp; Opportunities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6 KPIs measuring client retention, pax load factors, destination yield, and AI resolution rates.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Category 1: Operational Efficiency KPIs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74320"/>
            <a:ext cx="20116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KPI #1: Departure Readiness Gate Pass (%)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</a:defRPr>
            </a:pPr>
            <a:r>
              <a:t>Target: 100% within 72h | Formula: (Ready Tours / Total Upcoming Tours) × 100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Prevents last-minute emergency calls, missing guides, or unconfirmed hotel vouchers before departure.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356616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97679" y="1280160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KPI #2: Rooming List Lock Accuracy (%)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</a:defRPr>
            </a:pPr>
            <a:r>
              <a:t>Target: &gt; 98% | Formula: (Confirmed Roomings / Total Rooming Requests) × 100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Eliminates single/double rooming errors, hotel check-in delays, and unexpected room surcharge penalties.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280160"/>
            <a:ext cx="356616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19" y="1280160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KPI #3: Guide Capacity Utilization (%)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</a:defRPr>
            </a:pPr>
            <a:r>
              <a:t>Target: 85% - 90% | Formula: (Assigned Tour Days / Total Available Days) × 100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Maximizes top-tier guide productivity while avoiding burnout or idle retainer costs.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19" y="1280160"/>
            <a:ext cx="356616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840479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KPI #4: Bus Seat Load Factor (%)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</a:defRPr>
            </a:pPr>
            <a:r>
              <a:t>Target: &gt; 85% | Formula: (Total Tour Pax / Coach Seating Capacity) × 100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Optimizes coach size selection (e.g. 35-seat vs 50-seat bus) to cut transport costs per pax.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40479"/>
            <a:ext cx="356616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79" y="3840479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KPI #5: Supplier Confirmation Velocity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</a:defRPr>
            </a:pPr>
            <a:r>
              <a:t>Target: &lt; 24 Hours | Formula: Avg Hours from Booking Request to Supplier Confirmation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Accelerates client proposal turnaround and locks in competitive hotel group rates early.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3840479"/>
            <a:ext cx="356616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19" y="3840479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KPI #6: Automated Document Ratio (%)</a:t>
            </a:r>
          </a:p>
          <a:p>
            <a:pPr>
              <a:spcBef>
                <a:spcPts val="400"/>
              </a:spcBef>
              <a:defRPr sz="1000" b="1">
                <a:solidFill>
                  <a:srgbClr val="2563EB"/>
                </a:solidFill>
              </a:defRPr>
            </a:pPr>
            <a:r>
              <a:t>Target: &gt; 95% | Formula: (System-Generated Vouchers &amp; Flight Lists / Total Docs) × 100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Saves operational staff 15+ hours weekly by automating PDF voucher &amp; rooming list exports.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3840479"/>
            <a:ext cx="356616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Category 2: Financial &amp; Profitability KPIs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74320"/>
            <a:ext cx="20116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KPI #7: Excursion Sales Penetration (%)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</a:defRPr>
            </a:pPr>
            <a:r>
              <a:t>Target: &gt; 75% Pax | Formula: (Passengers Buying Excursions / Total Tour Pax) × 100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Measures on-site sales effectiveness and driver/guide excursion promotion enthusiasm.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356616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97679" y="1280160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KPI #8: Excursion Yield per Pax (€)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</a:defRPr>
            </a:pPr>
            <a:r>
              <a:t>Target: &gt; €120 / Pax | Formula: Total Excursion Sales Revenue / Total Tour Passengers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Identifies high-performing tour itineraries and top revenue-generating optional excursions.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280160"/>
            <a:ext cx="356616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19" y="1280160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KPI #9: Guide Commission Efficiency (%)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</a:defRPr>
            </a:pPr>
            <a:r>
              <a:t>Target: &lt; 15% of Gross Margin | Formula: (Total Guide Commission Paid / Excursion Gross Margin) × 100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Ensures guide incentives drive profitable excursion sales while protecting net DMC margins.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19" y="1280160"/>
            <a:ext cx="356616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840479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KPI #10: Cost per Pax Variance (€)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</a:defRPr>
            </a:pPr>
            <a:r>
              <a:t>Target: ± 2% of Budget | Formula: Actual Settled Cost per Pax - Budgeted Cost per Pax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Flags cost overruns in hotel night rates, city taxes, or entrance fees before final settlement.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40479"/>
            <a:ext cx="356616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79" y="3840479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KPI #11: Uninvoiced Service Cost Ratio (%)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</a:defRPr>
            </a:pPr>
            <a:r>
              <a:t>Target: &lt; 1% | Formula: (Uninvoiced Supplier Services / Total Operational Expenses) × 100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Prevents unbilled supplier expenses from slipping through without client re-invoicing.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3840479"/>
            <a:ext cx="356616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19" y="3840479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KPI #12: Gross Margin per Tour (€ &amp; %)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</a:defRPr>
            </a:pPr>
            <a:r>
              <a:t>Target: &gt; 22% Net Margin | Formula: ((Total Invoiced Revenue - Total Costs) / Total Revenue) × 100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Provides the owner with instant visibility into which projects and tour series yield highest net profit.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3840479"/>
            <a:ext cx="356616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Category 3: Governance &amp; Risk KPIs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74320"/>
            <a:ext cx="20116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KPI #13: Guide Cash Remittance Lag</a:t>
            </a:r>
          </a:p>
          <a:p>
            <a:pPr>
              <a:spcBef>
                <a:spcPts val="400"/>
              </a:spcBef>
              <a:defRPr sz="1000" b="1">
                <a:solidFill>
                  <a:srgbClr val="F59E0B"/>
                </a:solidFill>
              </a:defRPr>
            </a:pPr>
            <a:r>
              <a:t>Target: &lt; 48 Hours post-tour | Formula: Avg Days from Tour End Date to Excursion Cash Bank Deposit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Enforces Governance Rule 4 (Separate Money Flows) and accelerates cash flow collection.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356616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97679" y="1280160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KPI #14: Excursion Cash Discrepancy (%)</a:t>
            </a:r>
          </a:p>
          <a:p>
            <a:pPr>
              <a:spcBef>
                <a:spcPts val="400"/>
              </a:spcBef>
              <a:defRPr sz="1000" b="1">
                <a:solidFill>
                  <a:srgbClr val="F59E0B"/>
                </a:solidFill>
              </a:defRPr>
            </a:pPr>
            <a:r>
              <a:t>Target: 0.0% | Formula: |Guide Reported Sales - Actual Bank Deposit| / Total Sales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Detects cash leakages, currency conversion errors, or missing excursion sales receipts immediately.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280160"/>
            <a:ext cx="356616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19" y="1280160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KPI #15: Unassigned Tour Resource Ratio</a:t>
            </a:r>
          </a:p>
          <a:p>
            <a:pPr>
              <a:spcBef>
                <a:spcPts val="400"/>
              </a:spcBef>
              <a:defRPr sz="1000" b="1">
                <a:solidFill>
                  <a:srgbClr val="F59E0B"/>
                </a:solidFill>
              </a:defRPr>
            </a:pPr>
            <a:r>
              <a:t>Target: 0% within 7 Days | Formula: (Tours Missing Guide/Bus/Hotel within 7 Days / Total Tours) × 100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Eliminates operational panics and quality degradation on upcoming departures.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19" y="1280160"/>
            <a:ext cx="356616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840479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KPI #16: Passenger Data Completeness (%)</a:t>
            </a:r>
          </a:p>
          <a:p>
            <a:pPr>
              <a:spcBef>
                <a:spcPts val="400"/>
              </a:spcBef>
              <a:defRPr sz="1000" b="1">
                <a:solidFill>
                  <a:srgbClr val="F59E0B"/>
                </a:solidFill>
              </a:defRPr>
            </a:pPr>
            <a:r>
              <a:t>Target: 100% 7 Days Prior | Formula: (Passengers with Valid Passport &amp; Flight Info / Total Pax) × 100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Prevents hotel check-in refusal and airport transfer miscommunication.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40479"/>
            <a:ext cx="356616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79" y="3840479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KPI #17: Supplier Payment On-Time Rate</a:t>
            </a:r>
          </a:p>
          <a:p>
            <a:pPr>
              <a:spcBef>
                <a:spcPts val="400"/>
              </a:spcBef>
              <a:defRPr sz="1000" b="1">
                <a:solidFill>
                  <a:srgbClr val="F59E0B"/>
                </a:solidFill>
              </a:defRPr>
            </a:pPr>
            <a:r>
              <a:t>Target: &gt; 98% | Formula: (Invoices Paid Within Credit Terms / Total Supplier Invoices) × 100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Protects DMC reputation and secures preferred hotel room block allocations.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3840479"/>
            <a:ext cx="356616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19" y="3840479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KPI #18: Audit Trail Exception Count</a:t>
            </a:r>
          </a:p>
          <a:p>
            <a:pPr>
              <a:spcBef>
                <a:spcPts val="400"/>
              </a:spcBef>
              <a:defRPr sz="1000" b="1">
                <a:solidFill>
                  <a:srgbClr val="F59E0B"/>
                </a:solidFill>
              </a:defRPr>
            </a:pPr>
            <a:r>
              <a:t>Target: &lt; 5 per Month | Formula: Total Manual Price/Fee Overrides Logged in AuditLogs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Ensures full administrative accountability and transparency across all financial overrides.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3840479"/>
            <a:ext cx="356616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Category 4: Growth &amp; Opportunity KPIs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74320"/>
            <a:ext cx="20116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GROWTH &amp;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KPI #19: Client Repeat Booking Rate (%)</a:t>
            </a:r>
          </a:p>
          <a:p>
            <a:pPr>
              <a:spcBef>
                <a:spcPts val="400"/>
              </a:spcBef>
              <a:defRPr sz="1000" b="1">
                <a:solidFill>
                  <a:srgbClr val="7C3AED"/>
                </a:solidFill>
              </a:defRPr>
            </a:pPr>
            <a:r>
              <a:t>Target: &gt; 80% Seasonally | Formula: (Repeat Tour Operators / Total Active B2B Clients) × 100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Measures long-term DMC client satisfaction and recurring contract stability.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356616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97679" y="1280160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KPI #20: Project Pax Load Factor (%)</a:t>
            </a:r>
          </a:p>
          <a:p>
            <a:pPr>
              <a:spcBef>
                <a:spcPts val="400"/>
              </a:spcBef>
              <a:defRPr sz="1000" b="1">
                <a:solidFill>
                  <a:srgbClr val="7C3AED"/>
                </a:solidFill>
              </a:defRPr>
            </a:pPr>
            <a:r>
              <a:t>Target: &gt; 90% Allotment | Formula: (Actual Booked Pax / Contracted Project Capacity) × 100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Helps negotiate volume discounts with hotels and transport providers.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280160"/>
            <a:ext cx="356616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19" y="1280160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KPI #21: Top Destination Margin Share (%)</a:t>
            </a:r>
          </a:p>
          <a:p>
            <a:pPr>
              <a:spcBef>
                <a:spcPts val="400"/>
              </a:spcBef>
              <a:defRPr sz="1000" b="1">
                <a:solidFill>
                  <a:srgbClr val="7C3AED"/>
                </a:solidFill>
              </a:defRPr>
            </a:pPr>
            <a:r>
              <a:t>Target: Monitor Mix | Formula: Gross Profit from Top 3 Cities (Prague/Vienna/BVP) / Total Profit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Identifies geographic expansion opportunities and high-yielding tour itineraries.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19" y="1280160"/>
            <a:ext cx="356616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840479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KPI #22: Guide Performance NPS Score</a:t>
            </a:r>
          </a:p>
          <a:p>
            <a:pPr>
              <a:spcBef>
                <a:spcPts val="400"/>
              </a:spcBef>
              <a:defRPr sz="1000" b="1">
                <a:solidFill>
                  <a:srgbClr val="7C3AED"/>
                </a:solidFill>
              </a:defRPr>
            </a:pPr>
            <a:r>
              <a:t>Target: &gt; 4.8 / 5.0 | Formula: Average Passenger Rating per Assigned Tour Guide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Ensures high tour quality, passenger delight, and positive repeat trip reviews.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40479"/>
            <a:ext cx="356616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79" y="3840479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KPI #23: Pre/Post Hotel Night Conversion</a:t>
            </a:r>
          </a:p>
          <a:p>
            <a:pPr>
              <a:spcBef>
                <a:spcPts val="400"/>
              </a:spcBef>
              <a:defRPr sz="1000" b="1">
                <a:solidFill>
                  <a:srgbClr val="7C3AED"/>
                </a:solidFill>
              </a:defRPr>
            </a:pPr>
            <a:r>
              <a:t>Target: &gt; 15% Pax | Formula: (Passengers Booking Extra Nights / Total Passengers) × 100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Unlocks easy high-margin hotel commission upsells for early arrivals.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3840479"/>
            <a:ext cx="356616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19" y="3840479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KPI #24: AI Copilot Instant Help Rate (%)</a:t>
            </a:r>
          </a:p>
          <a:p>
            <a:pPr>
              <a:spcBef>
                <a:spcPts val="400"/>
              </a:spcBef>
              <a:defRPr sz="1000" b="1">
                <a:solidFill>
                  <a:srgbClr val="7C3AED"/>
                </a:solidFill>
              </a:defRPr>
            </a:pPr>
            <a:r>
              <a:t>Target: &gt; 90% | Formula: (Queries Resolved by AI Copilot / Total Staff Inquiries) × 100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Reduces onboarding time for new operators and answers how-to questions 24/7.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3840479"/>
            <a:ext cx="356616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UNO_ERP Executive KPI Implementation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74320"/>
            <a:ext cx="20116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4415" cy="13716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Phase 1: Immediate Wins (Sprint 1)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Build Top 6 Core KPIs on Executive Dashboard: Departure Gate, Cash Remittance Lag, Gross Margin %, Excursion Yield, Cost/Pax Variance, Unassigned Resources.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17520"/>
            <a:ext cx="11094415" cy="13716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Phase 2: Operational Automation (Sprint 2)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Integrate Automated Alerts &amp; AI Copilot Monitoring: Automated email notifications for readiness breaches and cash remittance delays &gt; 48h.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663440"/>
            <a:ext cx="11094415" cy="13716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Phase 3: Advanced Analytics &amp; BI (Sprint 3)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Deploy Full 24-KPI Interactive Executive Dashboard with Export to PDF/Excel for Monthly Board Reviews.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