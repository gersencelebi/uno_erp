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6289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UNO_ERP Tour Status Transition Process Flows</a:t>
            </a:r>
          </a:p>
          <a:p>
            <a:pPr>
              <a:spcBef>
                <a:spcPts val="1500"/>
              </a:spcBef>
              <a:defRPr sz="1800">
                <a:solidFill>
                  <a:srgbClr val="94A3B8"/>
                </a:solidFill>
              </a:defRPr>
            </a:pPr>
            <a:r>
              <a:t>Detailed Forward Transition Criteria: Draft ➔ Proposal ➔ Confirmed ➔ In Progress ➔ Completed</a:t>
            </a:r>
          </a:p>
          <a:p>
            <a:pPr>
              <a:spcBef>
                <a:spcPts val="4000"/>
              </a:spcBef>
              <a:defRPr sz="1400">
                <a:solidFill>
                  <a:srgbClr val="10B981"/>
                </a:solidFill>
              </a:defRPr>
            </a:pPr>
            <a:r>
              <a:t>Action 1 Forward Transition Criteria Specification | August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Transition Gate 1: Draft ➔ Proposal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0" y="274320"/>
            <a:ext cx="2468880" cy="41148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GATE 1 (ORDER 1➔2)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80160"/>
            <a:ext cx="3840480" cy="512064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64748B"/>
                </a:solidFill>
              </a:defRPr>
            </a:pPr>
            <a:r>
              <a:t>FORWARD TRANSITION</a:t>
            </a:r>
          </a:p>
          <a:p>
            <a:pPr>
              <a:spcBef>
                <a:spcPts val="600"/>
              </a:spcBef>
              <a:defRPr sz="1800" b="1">
                <a:solidFill>
                  <a:srgbClr val="F59E0B"/>
                </a:solidFill>
              </a:defRPr>
            </a:pPr>
            <a:r>
              <a:t>Draft  ➔  Proposal</a:t>
            </a:r>
          </a:p>
          <a:p>
            <a:pPr>
              <a:spcBef>
                <a:spcPts val="1600"/>
              </a:spcBef>
              <a:defRPr sz="1300" b="1">
                <a:solidFill>
                  <a:srgbClr val="1E293B"/>
                </a:solidFill>
              </a:defRPr>
            </a:pPr>
            <a:r>
              <a:t>Business Meaning &amp; Impact: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Freezes the initial tour itinerary quote so sales team can issue formal B2B proposal quotes to clients.</a:t>
            </a:r>
          </a:p>
          <a:p>
            <a:pPr>
              <a:spcBef>
                <a:spcPts val="1600"/>
              </a:spcBef>
              <a:defRPr sz="1300" b="1">
                <a:solidFill>
                  <a:srgbClr val="1E293B"/>
                </a:solidFill>
              </a:defRPr>
            </a:pPr>
            <a:r>
              <a:t>Automated System Checks:</a:t>
            </a:r>
          </a:p>
          <a:p>
            <a:pPr>
              <a:spcBef>
                <a:spcPts val="400"/>
              </a:spcBef>
              <a:defRPr sz="1100">
                <a:solidFill>
                  <a:srgbClr val="F59E0B"/>
                </a:solidFill>
              </a:defRPr>
            </a:pPr>
            <a:r>
              <a:t>• ProjectId != null</a:t>
            </a:r>
          </a:p>
          <a:p>
            <a:pPr>
              <a:spcBef>
                <a:spcPts val="400"/>
              </a:spcBef>
              <a:defRPr sz="1100">
                <a:solidFill>
                  <a:srgbClr val="F59E0B"/>
                </a:solidFill>
              </a:defRPr>
            </a:pPr>
            <a:r>
              <a:t>• ArrivalDate != default</a:t>
            </a:r>
          </a:p>
          <a:p>
            <a:pPr>
              <a:spcBef>
                <a:spcPts val="400"/>
              </a:spcBef>
              <a:defRPr sz="1100">
                <a:solidFill>
                  <a:srgbClr val="F59E0B"/>
                </a:solidFill>
              </a:defRPr>
            </a:pPr>
            <a:r>
              <a:t>• EndDate &gt; ArrivalDate</a:t>
            </a:r>
          </a:p>
          <a:p>
            <a:pPr>
              <a:spcBef>
                <a:spcPts val="400"/>
              </a:spcBef>
              <a:defRPr sz="1100">
                <a:solidFill>
                  <a:srgbClr val="F59E0B"/>
                </a:solidFill>
              </a:defRPr>
            </a:pPr>
            <a:r>
              <a:t>• Pax &gt; 0</a:t>
            </a:r>
          </a:p>
          <a:p>
            <a:pPr>
              <a:spcBef>
                <a:spcPts val="400"/>
              </a:spcBef>
              <a:defRPr sz="1100">
                <a:solidFill>
                  <a:srgbClr val="F59E0B"/>
                </a:solidFill>
              </a:defRPr>
            </a:pPr>
            <a:r>
              <a:t>• BaseFee &gt; 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1188720"/>
            <a:ext cx="70408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E293B"/>
                </a:solidFill>
              </a:defRPr>
            </a:pPr>
            <a:r>
              <a:t>Mandatory Transition Checkpoints (100% Pass Required):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0" y="1737360"/>
            <a:ext cx="7040880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59E0B"/>
                </a:solidFill>
              </a:defRPr>
            </a:pPr>
            <a:r>
              <a:t>Checkpoint 1: Project &amp; Destination Definition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</a:defRPr>
            </a:pPr>
            <a:r>
              <a:t>Valid B2B Project Code assigned (e.g. Orta Avrupa - BVP) and destination city routing selected.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0" y="1737360"/>
            <a:ext cx="137160" cy="10515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72000" y="2926080"/>
            <a:ext cx="7040880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59E0B"/>
                </a:solidFill>
              </a:defRPr>
            </a:pPr>
            <a:r>
              <a:t>Checkpoint 2: Pax Breakdown &amp; Pricing Engine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</a:defRPr>
            </a:pPr>
            <a:r>
              <a:t>Passenger count entered (Adults, Children, Infants). Package rates &amp; base fee calculated (BaseFee &gt; €0).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0" y="2926080"/>
            <a:ext cx="137160" cy="10515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72000" y="4114800"/>
            <a:ext cx="7040880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59E0B"/>
                </a:solidFill>
              </a:defRPr>
            </a:pPr>
            <a:r>
              <a:t>Checkpoint 3: Itinerary Date Boundaries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</a:defRPr>
            </a:pPr>
            <a:r>
              <a:t>Arrival Date and End Date defined with valid non-zero duration (EndDate &gt; ArrivalDate).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0" y="4114800"/>
            <a:ext cx="137160" cy="10515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572000" y="5303520"/>
            <a:ext cx="7040880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59E0B"/>
                </a:solidFill>
              </a:defRPr>
            </a:pPr>
            <a:r>
              <a:t>Checkpoint 4: Initial Service Skeleton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</a:defRPr>
            </a:pPr>
            <a:r>
              <a:t>Base hotel, transport, and guide service templates instantiated in tour record.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0" y="5303520"/>
            <a:ext cx="137160" cy="10515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Transition Gate 2: Proposal ➔ Confirmed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0" y="274320"/>
            <a:ext cx="2468880" cy="41148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GATE 2 (ORDER 2➔3)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80160"/>
            <a:ext cx="3840480" cy="512064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64748B"/>
                </a:solidFill>
              </a:defRPr>
            </a:pPr>
            <a:r>
              <a:t>FORWARD TRANSITION</a:t>
            </a:r>
          </a:p>
          <a:p>
            <a:pPr>
              <a:spcBef>
                <a:spcPts val="600"/>
              </a:spcBef>
              <a:defRPr sz="1800" b="1">
                <a:solidFill>
                  <a:srgbClr val="2563EB"/>
                </a:solidFill>
              </a:defRPr>
            </a:pPr>
            <a:r>
              <a:t>Proposal  ➔  Confirmed</a:t>
            </a:r>
          </a:p>
          <a:p>
            <a:pPr>
              <a:spcBef>
                <a:spcPts val="1600"/>
              </a:spcBef>
              <a:defRPr sz="1300" b="1">
                <a:solidFill>
                  <a:srgbClr val="1E293B"/>
                </a:solidFill>
              </a:defRPr>
            </a:pPr>
            <a:r>
              <a:t>Business Meaning &amp; Impact: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Guarantees that the tour is 100% operationally locked and fully backed by supplier reservations.</a:t>
            </a:r>
          </a:p>
          <a:p>
            <a:pPr>
              <a:spcBef>
                <a:spcPts val="1600"/>
              </a:spcBef>
              <a:defRPr sz="1300" b="1">
                <a:solidFill>
                  <a:srgbClr val="1E293B"/>
                </a:solidFill>
              </a:defRPr>
            </a:pPr>
            <a:r>
              <a:t>Automated System Checks:</a:t>
            </a:r>
          </a:p>
          <a:p>
            <a:pPr>
              <a:spcBef>
                <a:spcPts val="400"/>
              </a:spcBef>
              <a:defRPr sz="1100">
                <a:solidFill>
                  <a:srgbClr val="2563EB"/>
                </a:solidFill>
              </a:defRPr>
            </a:pPr>
            <a:r>
              <a:t>• HotelConfirmed == true</a:t>
            </a:r>
          </a:p>
          <a:p>
            <a:pPr>
              <a:spcBef>
                <a:spcPts val="400"/>
              </a:spcBef>
              <a:defRPr sz="1100">
                <a:solidFill>
                  <a:srgbClr val="2563EB"/>
                </a:solidFill>
              </a:defRPr>
            </a:pPr>
            <a:r>
              <a:t>• GuideAssigned == true</a:t>
            </a:r>
          </a:p>
          <a:p>
            <a:pPr>
              <a:spcBef>
                <a:spcPts val="400"/>
              </a:spcBef>
              <a:defRPr sz="1100">
                <a:solidFill>
                  <a:srgbClr val="2563EB"/>
                </a:solidFill>
              </a:defRPr>
            </a:pPr>
            <a:r>
              <a:t>• TransportConfirmed == true</a:t>
            </a:r>
          </a:p>
          <a:p>
            <a:pPr>
              <a:spcBef>
                <a:spcPts val="400"/>
              </a:spcBef>
              <a:defRPr sz="1100">
                <a:solidFill>
                  <a:srgbClr val="2563EB"/>
                </a:solidFill>
              </a:defRPr>
            </a:pPr>
            <a:r>
              <a:t>• ClientDepositConfirmed == true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1188720"/>
            <a:ext cx="70408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E293B"/>
                </a:solidFill>
              </a:defRPr>
            </a:pPr>
            <a:r>
              <a:t>Mandatory Transition Checkpoints (100% Pass Required):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0" y="1737360"/>
            <a:ext cx="7040880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2563EB"/>
                </a:solidFill>
              </a:defRPr>
            </a:pPr>
            <a:r>
              <a:t>Checkpoint 1: Hotel Reservations Confirmed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</a:defRPr>
            </a:pPr>
            <a:r>
              <a:t>100% of city stop hotels (Budapest, Vienna, Prague) have confirmed room reservations &amp; vouchers issued.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0" y="1737360"/>
            <a:ext cx="137160" cy="10515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72000" y="2926080"/>
            <a:ext cx="7040880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2563EB"/>
                </a:solidFill>
              </a:defRPr>
            </a:pPr>
            <a:r>
              <a:t>Checkpoint 2: Guide Assignment Confirmed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</a:defRPr>
            </a:pPr>
            <a:r>
              <a:t>Primary Tour Guide assigned, language requirements matched, daily rate accepted, and contract locked.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0" y="2926080"/>
            <a:ext cx="137160" cy="10515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72000" y="4114800"/>
            <a:ext cx="7040880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2563EB"/>
                </a:solidFill>
              </a:defRPr>
            </a:pPr>
            <a:r>
              <a:t>Checkpoint 3: Transportation &amp; Bus Locked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</a:defRPr>
            </a:pPr>
            <a:r>
              <a:t>Transport company &amp; driver assigned. Coach capacity verified (e.g. 50-seat bus for 36 pax).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0" y="4114800"/>
            <a:ext cx="137160" cy="10515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572000" y="5303520"/>
            <a:ext cx="7040880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2563EB"/>
                </a:solidFill>
              </a:defRPr>
            </a:pPr>
            <a:r>
              <a:t>Checkpoint 4: Client Deposit &amp; Contract Confirmed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</a:defRPr>
            </a:pPr>
            <a:r>
              <a:t>Client B2B tour operator contract signed and initial deposit payment received.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0" y="5303520"/>
            <a:ext cx="137160" cy="10515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Transition Gate 3: Confirmed ➔ In Progress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0" y="274320"/>
            <a:ext cx="2468880" cy="41148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GATE 3 (ORDER 3➔4)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80160"/>
            <a:ext cx="3840480" cy="512064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64748B"/>
                </a:solidFill>
              </a:defRPr>
            </a:pPr>
            <a:r>
              <a:t>FORWARD TRANSITION</a:t>
            </a:r>
          </a:p>
          <a:p>
            <a:pPr>
              <a:spcBef>
                <a:spcPts val="600"/>
              </a:spcBef>
              <a:defRPr sz="1800" b="1">
                <a:solidFill>
                  <a:srgbClr val="7C3AED"/>
                </a:solidFill>
              </a:defRPr>
            </a:pPr>
            <a:r>
              <a:t>Confirmed  ➔  In Progress</a:t>
            </a:r>
          </a:p>
          <a:p>
            <a:pPr>
              <a:spcBef>
                <a:spcPts val="1600"/>
              </a:spcBef>
              <a:defRPr sz="1300" b="1">
                <a:solidFill>
                  <a:srgbClr val="1E293B"/>
                </a:solidFill>
              </a:defRPr>
            </a:pPr>
            <a:r>
              <a:t>Business Meaning &amp; Impact: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Marks active on-the-ground tour execution, daily guide management, and real-time excursion sales.</a:t>
            </a:r>
          </a:p>
          <a:p>
            <a:pPr>
              <a:spcBef>
                <a:spcPts val="1600"/>
              </a:spcBef>
              <a:defRPr sz="1300" b="1">
                <a:solidFill>
                  <a:srgbClr val="1E293B"/>
                </a:solidFill>
              </a:defRPr>
            </a:pPr>
            <a:r>
              <a:t>Automated System Checks:</a:t>
            </a:r>
          </a:p>
          <a:p>
            <a:pPr>
              <a:spcBef>
                <a:spcPts val="400"/>
              </a:spcBef>
              <a:defRPr sz="1100">
                <a:solidFill>
                  <a:srgbClr val="7C3AED"/>
                </a:solidFill>
              </a:defRPr>
            </a:pPr>
            <a:r>
              <a:t>• CurrentDate &gt;= ArrivalDate</a:t>
            </a:r>
          </a:p>
          <a:p>
            <a:pPr>
              <a:spcBef>
                <a:spcPts val="400"/>
              </a:spcBef>
              <a:defRPr sz="1100">
                <a:solidFill>
                  <a:srgbClr val="7C3AED"/>
                </a:solidFill>
              </a:defRPr>
            </a:pPr>
            <a:r>
              <a:t>• FlightManifestVerified == true</a:t>
            </a:r>
          </a:p>
          <a:p>
            <a:pPr>
              <a:spcBef>
                <a:spcPts val="400"/>
              </a:spcBef>
              <a:defRPr sz="1100">
                <a:solidFill>
                  <a:srgbClr val="7C3AED"/>
                </a:solidFill>
              </a:defRPr>
            </a:pPr>
            <a:r>
              <a:t>• RoomingListDispatched == true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1188720"/>
            <a:ext cx="70408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E293B"/>
                </a:solidFill>
              </a:defRPr>
            </a:pPr>
            <a:r>
              <a:t>Mandatory Transition Checkpoints (100% Pass Required):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0" y="1737360"/>
            <a:ext cx="7040880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7C3AED"/>
                </a:solidFill>
              </a:defRPr>
            </a:pPr>
            <a:r>
              <a:t>Checkpoint 1: Arrival Date Reached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</a:defRPr>
            </a:pPr>
            <a:r>
              <a:t>Current system date ≥ ArrivalDate (Arrival date threshold reached).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0" y="1737360"/>
            <a:ext cx="137160" cy="10515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72000" y="2926080"/>
            <a:ext cx="7040880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7C3AED"/>
                </a:solidFill>
              </a:defRPr>
            </a:pPr>
            <a:r>
              <a:t>Checkpoint 2: Flight &amp; Arrival Manifest Landed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</a:defRPr>
            </a:pPr>
            <a:r>
              <a:t>Passenger arrival flight numbers &amp; airport arrival list verified by DMC airport representative.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0" y="2926080"/>
            <a:ext cx="137160" cy="10515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72000" y="4114800"/>
            <a:ext cx="7040880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7C3AED"/>
                </a:solidFill>
              </a:defRPr>
            </a:pPr>
            <a:r>
              <a:t>Checkpoint 3: Rooming List Dispatched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</a:defRPr>
            </a:pPr>
            <a:r>
              <a:t>Final rooming lists handed over to hotel reception desks for smooth group check-in.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0" y="4114800"/>
            <a:ext cx="137160" cy="10515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572000" y="5303520"/>
            <a:ext cx="7040880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7C3AED"/>
                </a:solidFill>
              </a:defRPr>
            </a:pPr>
            <a:r>
              <a:t>Checkpoint 4: Guide Daily Operational Log Active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</a:defRPr>
            </a:pPr>
            <a:r>
              <a:t>Tour Guide checked in on-site and daily cash remittance tracker initialized.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0" y="5303520"/>
            <a:ext cx="137160" cy="10515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Transition Gate 4: In Progress ➔ Completed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0" y="274320"/>
            <a:ext cx="2468880" cy="41148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GATE 4 (ORDER 4➔5)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80160"/>
            <a:ext cx="3840480" cy="512064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64748B"/>
                </a:solidFill>
              </a:defRPr>
            </a:pPr>
            <a:r>
              <a:t>FORWARD TRANSITION</a:t>
            </a:r>
          </a:p>
          <a:p>
            <a:pPr>
              <a:spcBef>
                <a:spcPts val="600"/>
              </a:spcBef>
              <a:defRPr sz="1800" b="1">
                <a:solidFill>
                  <a:srgbClr val="10B981"/>
                </a:solidFill>
              </a:defRPr>
            </a:pPr>
            <a:r>
              <a:t>In Progress  ➔  Completed</a:t>
            </a:r>
          </a:p>
          <a:p>
            <a:pPr>
              <a:spcBef>
                <a:spcPts val="1600"/>
              </a:spcBef>
              <a:defRPr sz="1300" b="1">
                <a:solidFill>
                  <a:srgbClr val="1E293B"/>
                </a:solidFill>
              </a:defRPr>
            </a:pPr>
            <a:r>
              <a:t>Business Meaning &amp; Impact: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Finalizes tour operations, seals financial accounts, and prevents further unauthorized expense edits.</a:t>
            </a:r>
          </a:p>
          <a:p>
            <a:pPr>
              <a:spcBef>
                <a:spcPts val="1600"/>
              </a:spcBef>
              <a:defRPr sz="1300" b="1">
                <a:solidFill>
                  <a:srgbClr val="1E293B"/>
                </a:solidFill>
              </a:defRPr>
            </a:pPr>
            <a:r>
              <a:t>Automated System Checks:</a:t>
            </a:r>
          </a:p>
          <a:p>
            <a:pPr>
              <a:spcBef>
                <a:spcPts val="400"/>
              </a:spcBef>
              <a:defRPr sz="1100">
                <a:solidFill>
                  <a:srgbClr val="10B981"/>
                </a:solidFill>
              </a:defRPr>
            </a:pPr>
            <a:r>
              <a:t>• CurrentDate &gt;= EndDate</a:t>
            </a:r>
          </a:p>
          <a:p>
            <a:pPr>
              <a:spcBef>
                <a:spcPts val="400"/>
              </a:spcBef>
              <a:defRPr sz="1100">
                <a:solidFill>
                  <a:srgbClr val="10B981"/>
                </a:solidFill>
              </a:defRPr>
            </a:pPr>
            <a:r>
              <a:t>• UninvoicedSupplierCount == 0</a:t>
            </a:r>
          </a:p>
          <a:p>
            <a:pPr>
              <a:spcBef>
                <a:spcPts val="400"/>
              </a:spcBef>
              <a:defRPr sz="1100">
                <a:solidFill>
                  <a:srgbClr val="10B981"/>
                </a:solidFill>
              </a:defRPr>
            </a:pPr>
            <a:r>
              <a:t>• AccountingClosed == true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1188720"/>
            <a:ext cx="70408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E293B"/>
                </a:solidFill>
              </a:defRPr>
            </a:pPr>
            <a:r>
              <a:t>Mandatory Transition Checkpoints (100% Pass Required):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0" y="1737360"/>
            <a:ext cx="7040880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0B981"/>
                </a:solidFill>
              </a:defRPr>
            </a:pPr>
            <a:r>
              <a:t>Checkpoint 1: Return Date Reached (Passengers Departed)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</a:defRPr>
            </a:pPr>
            <a:r>
              <a:t>Current system date ≥ EndDate. Passengers departure transfer completed &amp; flights departed.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0" y="1737360"/>
            <a:ext cx="137160" cy="10515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72000" y="2926080"/>
            <a:ext cx="7040880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0B981"/>
                </a:solidFill>
              </a:defRPr>
            </a:pPr>
            <a:r>
              <a:t>Checkpoint 2: 100% Supplier Expense Reconciliation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</a:defRPr>
            </a:pPr>
            <a:r>
              <a:t>All supplier costs (Hotels, Guides, Transport, Excursions, Extras) entered &amp; invoice-verified.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0" y="2926080"/>
            <a:ext cx="137160" cy="10515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72000" y="4114800"/>
            <a:ext cx="7040880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0B981"/>
                </a:solidFill>
              </a:defRPr>
            </a:pPr>
            <a:r>
              <a:t>Checkpoint 3: 100% Client Revenue Reconciliation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</a:defRPr>
            </a:pPr>
            <a:r>
              <a:t>All client billable items &amp; invoices issued and reconciled against client ledger.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0" y="4114800"/>
            <a:ext cx="137160" cy="10515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572000" y="5303520"/>
            <a:ext cx="7040880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0B981"/>
                </a:solidFill>
              </a:defRPr>
            </a:pPr>
            <a:r>
              <a:t>Checkpoint 4: Accounting Closed Flag Set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</a:defRPr>
            </a:pPr>
            <a:r>
              <a:t>Financial audit locked by Accounting Administrator (AccountingClosed == true).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0" y="5303520"/>
            <a:ext cx="137160" cy="10515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Transition Gate 5: Any Status ➔ Cancelled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0" y="274320"/>
            <a:ext cx="2468880" cy="41148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GATE 5 (ORDER 1-4➔6)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80160"/>
            <a:ext cx="3840480" cy="512064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64748B"/>
                </a:solidFill>
              </a:defRPr>
            </a:pPr>
            <a:r>
              <a:t>FORWARD TRANSITION</a:t>
            </a:r>
          </a:p>
          <a:p>
            <a:pPr>
              <a:spcBef>
                <a:spcPts val="600"/>
              </a:spcBef>
              <a:defRPr sz="1800" b="1">
                <a:solidFill>
                  <a:srgbClr val="F43F5E"/>
                </a:solidFill>
              </a:defRPr>
            </a:pPr>
            <a:r>
              <a:t>Active Status  ➔  Cancelled</a:t>
            </a:r>
          </a:p>
          <a:p>
            <a:pPr>
              <a:spcBef>
                <a:spcPts val="1600"/>
              </a:spcBef>
              <a:defRPr sz="1300" b="1">
                <a:solidFill>
                  <a:srgbClr val="1E293B"/>
                </a:solidFill>
              </a:defRPr>
            </a:pPr>
            <a:r>
              <a:t>Business Meaning &amp; Impact: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Safely handles cancelled departures, resolves supplier penalties, and prevents invalid revenue billing.</a:t>
            </a:r>
          </a:p>
          <a:p>
            <a:pPr>
              <a:spcBef>
                <a:spcPts val="1600"/>
              </a:spcBef>
              <a:defRPr sz="1300" b="1">
                <a:solidFill>
                  <a:srgbClr val="1E293B"/>
                </a:solidFill>
              </a:defRPr>
            </a:pPr>
            <a:r>
              <a:t>Automated System Checks:</a:t>
            </a:r>
          </a:p>
          <a:p>
            <a:pPr>
              <a:spcBef>
                <a:spcPts val="400"/>
              </a:spcBef>
              <a:defRPr sz="1100">
                <a:solidFill>
                  <a:srgbClr val="F43F5E"/>
                </a:solidFill>
              </a:defRPr>
            </a:pPr>
            <a:r>
              <a:t>• CancellationReason != null</a:t>
            </a:r>
          </a:p>
          <a:p>
            <a:pPr>
              <a:spcBef>
                <a:spcPts val="400"/>
              </a:spcBef>
              <a:defRPr sz="1100">
                <a:solidFill>
                  <a:srgbClr val="F43F5E"/>
                </a:solidFill>
              </a:defRPr>
            </a:pPr>
            <a:r>
              <a:t>• SupplierPenaltiesCalculated == true</a:t>
            </a:r>
          </a:p>
          <a:p>
            <a:pPr>
              <a:spcBef>
                <a:spcPts val="400"/>
              </a:spcBef>
              <a:defRPr sz="1100">
                <a:solidFill>
                  <a:srgbClr val="F43F5E"/>
                </a:solidFill>
              </a:defRPr>
            </a:pPr>
            <a:r>
              <a:t>• CreditNoteGenerated == true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1188720"/>
            <a:ext cx="70408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E293B"/>
                </a:solidFill>
              </a:defRPr>
            </a:pPr>
            <a:r>
              <a:t>Mandatory Transition Checkpoints (100% Pass Required):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0" y="1737360"/>
            <a:ext cx="7040880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43F5E"/>
                </a:solidFill>
              </a:defRPr>
            </a:pPr>
            <a:r>
              <a:t>Checkpoint 1: Cancellation Reason Logged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</a:defRPr>
            </a:pPr>
            <a:r>
              <a:t>Formal cancellation reason recorded in AuditLogs with user timestamp &amp; administrator approval.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0" y="1737360"/>
            <a:ext cx="137160" cy="105156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72000" y="2926080"/>
            <a:ext cx="7040880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43F5E"/>
                </a:solidFill>
              </a:defRPr>
            </a:pPr>
            <a:r>
              <a:t>Checkpoint 2: Supplier Cancellation Policy Check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</a:defRPr>
            </a:pPr>
            <a:r>
              <a:t>Hotel &amp; transport cancellation penalty fees computed according to contractual SLAs.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0" y="2926080"/>
            <a:ext cx="137160" cy="105156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72000" y="4114800"/>
            <a:ext cx="7040880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43F5E"/>
                </a:solidFill>
              </a:defRPr>
            </a:pPr>
            <a:r>
              <a:t>Checkpoint 3: Client Deposit Refund / Credit Note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</a:defRPr>
            </a:pPr>
            <a:r>
              <a:t>Client refund balance or credit note generated in Accounting ledger.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0" y="4114800"/>
            <a:ext cx="137160" cy="105156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Automated Time-Window Warning System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0" y="274320"/>
            <a:ext cx="2468880" cy="41148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SLA WARNINGS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37360"/>
            <a:ext cx="11094415" cy="10515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59E0B"/>
                </a:solidFill>
              </a:defRPr>
            </a:pPr>
            <a:r>
              <a:t>⚠️ Warning Alert: 7 Days to Departure</a:t>
            </a:r>
          </a:p>
          <a:p>
            <a:pPr>
              <a:spcBef>
                <a:spcPts val="400"/>
              </a:spcBef>
              <a:defRPr sz="1200">
                <a:solidFill>
                  <a:srgbClr val="1E293B"/>
                </a:solidFill>
              </a:defRPr>
            </a:pPr>
            <a:r>
              <a:t>Triggers if Hotel reservation or Transport company is still UNCONFIRMED 7 days prior to Arrival Date.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926080"/>
            <a:ext cx="11094415" cy="10515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43F5E"/>
                </a:solidFill>
              </a:defRPr>
            </a:pPr>
            <a:r>
              <a:t>⚠️ Warning Alert: 3 Days to Departure</a:t>
            </a:r>
          </a:p>
          <a:p>
            <a:pPr>
              <a:spcBef>
                <a:spcPts val="400"/>
              </a:spcBef>
              <a:defRPr sz="1200">
                <a:solidFill>
                  <a:srgbClr val="1E293B"/>
                </a:solidFill>
              </a:defRPr>
            </a:pPr>
            <a:r>
              <a:t>Triggers if Guide is UNASSIGNED or UNCONFIRMED 3 days prior to Arrival Date.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4114800"/>
            <a:ext cx="11094415" cy="10515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43F5E"/>
                </a:solidFill>
              </a:defRPr>
            </a:pPr>
            <a:r>
              <a:t>🚨 Critical Alert: 24 Hours to Departure</a:t>
            </a:r>
          </a:p>
          <a:p>
            <a:pPr>
              <a:spcBef>
                <a:spcPts val="400"/>
              </a:spcBef>
              <a:defRPr sz="1200">
                <a:solidFill>
                  <a:srgbClr val="1E293B"/>
                </a:solidFill>
              </a:defRPr>
            </a:pPr>
            <a:r>
              <a:t>Triggers if Passenger Flight Info or Rooming List is INCOMPLETE 24 hours prior to Arrival Date.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5303520"/>
            <a:ext cx="11094415" cy="10515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59E0B"/>
                </a:solidFill>
              </a:defRPr>
            </a:pPr>
            <a:r>
              <a:t>⚠️ Accounting Warning: 7 Days Post-Tour</a:t>
            </a:r>
          </a:p>
          <a:p>
            <a:pPr>
              <a:spcBef>
                <a:spcPts val="400"/>
              </a:spcBef>
              <a:defRPr sz="1200">
                <a:solidFill>
                  <a:srgbClr val="1E293B"/>
                </a:solidFill>
              </a:defRPr>
            </a:pPr>
            <a:r>
              <a:t>Triggers if Tour is Ended but Accounting Closed flag remains UNSET after 7 days.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