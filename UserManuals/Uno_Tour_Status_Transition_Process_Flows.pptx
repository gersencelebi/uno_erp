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62895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FFFFFF"/>
                </a:solidFill>
              </a:defRPr>
            </a:pPr>
            <a:r>
              <a:t>UNO_ERP Tour Status Transition Criteria &amp; Checkpoints</a:t>
            </a:r>
          </a:p>
          <a:p>
            <a:pPr>
              <a:spcBef>
                <a:spcPts val="1500"/>
              </a:spcBef>
              <a:defRPr sz="1800">
                <a:solidFill>
                  <a:srgbClr val="94A3B8"/>
                </a:solidFill>
              </a:defRPr>
            </a:pPr>
            <a:r>
              <a:t>Process Lifecycle Definition, Checkpoint Gates, and Automated Warning System</a:t>
            </a:r>
          </a:p>
          <a:p>
            <a:pPr>
              <a:spcBef>
                <a:spcPts val="4000"/>
              </a:spcBef>
              <a:defRPr sz="1400">
                <a:solidFill>
                  <a:srgbClr val="10B981"/>
                </a:solidFill>
              </a:defRPr>
            </a:pPr>
            <a:r>
              <a:t>Action 1 Process Specification Document | August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Tour Lifecycle Status Transition Architecture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326880" y="274320"/>
            <a:ext cx="2286000" cy="41148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PROCESS FLOW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71600"/>
            <a:ext cx="3566160" cy="21945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1E293B"/>
                </a:solidFill>
              </a:defRPr>
            </a:pPr>
            <a:r>
              <a:t>1. Draft</a:t>
            </a:r>
          </a:p>
          <a:p>
            <a:pPr>
              <a:spcBef>
                <a:spcPts val="800"/>
              </a:spcBef>
              <a:defRPr sz="1200">
                <a:solidFill>
                  <a:srgbClr val="64748B"/>
                </a:solidFill>
              </a:defRPr>
            </a:pPr>
            <a:r>
              <a:t>Initial itinerary assembly, estimated pax count, draft pricing.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79" y="1371600"/>
            <a:ext cx="3566160" cy="2194560"/>
          </a:xfrm>
          <a:prstGeom prst="roundRect">
            <a:avLst/>
          </a:prstGeom>
          <a:solidFill>
            <a:srgbClr val="F59E0B"/>
          </a:solidFill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2. Proposal</a:t>
            </a:r>
          </a:p>
          <a:p>
            <a:pPr>
              <a:spcBef>
                <a:spcPts val="800"/>
              </a:spcBef>
              <a:defRPr sz="1200">
                <a:solidFill>
                  <a:srgbClr val="FFFFFF"/>
                </a:solidFill>
              </a:defRPr>
            </a:pPr>
            <a:r>
              <a:t>Client proposal sent, base services loaded, pricing locked.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19" y="1371600"/>
            <a:ext cx="3566160" cy="2194560"/>
          </a:xfrm>
          <a:prstGeom prst="roundRect">
            <a:avLst/>
          </a:prstGeom>
          <a:solidFill>
            <a:srgbClr val="2563EB"/>
          </a:solidFill>
          <a:ln w="254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3. Confirmed</a:t>
            </a:r>
          </a:p>
          <a:p>
            <a:pPr>
              <a:spcBef>
                <a:spcPts val="800"/>
              </a:spcBef>
              <a:defRPr sz="1200">
                <a:solidFill>
                  <a:srgbClr val="FFFFFF"/>
                </a:solidFill>
              </a:defRPr>
            </a:pPr>
            <a:r>
              <a:t>All 4 Checkpoints mandatory: Hotel, Guide, Bus, Client Deposit.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840480"/>
            <a:ext cx="3566160" cy="2194560"/>
          </a:xfrm>
          <a:prstGeom prst="roundRect">
            <a:avLst/>
          </a:prstGeom>
          <a:solidFill>
            <a:srgbClr val="7C3AED"/>
          </a:solidFill>
          <a:ln w="254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4. In Progress</a:t>
            </a:r>
          </a:p>
          <a:p>
            <a:pPr>
              <a:spcBef>
                <a:spcPts val="800"/>
              </a:spcBef>
              <a:defRPr sz="1200">
                <a:solidFill>
                  <a:srgbClr val="FFFFFF"/>
                </a:solidFill>
              </a:defRPr>
            </a:pPr>
            <a:r>
              <a:t>Arrival date reached, flight landed, active tour execution.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79" y="3840480"/>
            <a:ext cx="3566160" cy="2194560"/>
          </a:xfrm>
          <a:prstGeom prst="roundRect">
            <a:avLst/>
          </a:prstGeom>
          <a:solidFill>
            <a:srgbClr val="10B981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5. Completed</a:t>
            </a:r>
          </a:p>
          <a:p>
            <a:pPr>
              <a:spcBef>
                <a:spcPts val="800"/>
              </a:spcBef>
              <a:defRPr sz="1200">
                <a:solidFill>
                  <a:srgbClr val="FFFFFF"/>
                </a:solidFill>
              </a:defRPr>
            </a:pPr>
            <a:r>
              <a:t>Return date reached, 100% costs/sales entered, Accounting Closed.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19" y="3840480"/>
            <a:ext cx="3566160" cy="2194560"/>
          </a:xfrm>
          <a:prstGeom prst="roundRect">
            <a:avLst/>
          </a:prstGeom>
          <a:solidFill>
            <a:srgbClr val="F43F5E"/>
          </a:solidFill>
          <a:ln w="2540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6. Cancelled</a:t>
            </a:r>
          </a:p>
          <a:p>
            <a:pPr>
              <a:spcBef>
                <a:spcPts val="800"/>
              </a:spcBef>
              <a:defRPr sz="1200">
                <a:solidFill>
                  <a:srgbClr val="FFFFFF"/>
                </a:solidFill>
              </a:defRPr>
            </a:pPr>
            <a:r>
              <a:t>Cancellation logged, supplier fees &amp; refund adjustments settled.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Transition Gate: Proposal -&gt; Confirmed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326880" y="274320"/>
            <a:ext cx="2286000" cy="41148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CRITICAL GATES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109441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E293B"/>
                </a:solidFill>
              </a:defRPr>
            </a:pPr>
            <a:r>
              <a:t>To transition a tour status to CONFIRMED, the system evaluates 4 Mandatory Checkpoints: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828800"/>
            <a:ext cx="11094415" cy="10058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2563EB"/>
                </a:solidFill>
              </a:defRPr>
            </a:pPr>
            <a:r>
              <a:t>1. Hotel Reservation Checkpoint</a:t>
            </a:r>
          </a:p>
          <a:p>
            <a:pPr>
              <a:spcBef>
                <a:spcPts val="400"/>
              </a:spcBef>
              <a:defRPr sz="1200">
                <a:solidFill>
                  <a:srgbClr val="1E293B"/>
                </a:solidFill>
              </a:defRPr>
            </a:pPr>
            <a:r>
              <a:t>All hotel stays across all cities (Budapest, Vienna, Prague) must have confirmed room bookings &amp; vouchers issued.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971800"/>
            <a:ext cx="11094415" cy="10058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2563EB"/>
                </a:solidFill>
              </a:defRPr>
            </a:pPr>
            <a:r>
              <a:t>2. Guide Assignment Checkpoint</a:t>
            </a:r>
          </a:p>
          <a:p>
            <a:pPr>
              <a:spcBef>
                <a:spcPts val="400"/>
              </a:spcBef>
              <a:defRPr sz="1200">
                <a:solidFill>
                  <a:srgbClr val="1E293B"/>
                </a:solidFill>
              </a:defRPr>
            </a:pPr>
            <a:r>
              <a:t>Primary Tour Guide assigned, language verified, daily rate accepted, and contract confirmed.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4114800"/>
            <a:ext cx="11094415" cy="10058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2563EB"/>
                </a:solidFill>
              </a:defRPr>
            </a:pPr>
            <a:r>
              <a:t>3. Transportation Checkpoint</a:t>
            </a:r>
          </a:p>
          <a:p>
            <a:pPr>
              <a:spcBef>
                <a:spcPts val="400"/>
              </a:spcBef>
              <a:defRPr sz="1200">
                <a:solidFill>
                  <a:srgbClr val="1E293B"/>
                </a:solidFill>
              </a:defRPr>
            </a:pPr>
            <a:r>
              <a:t>Bus / Transport company assigned, coach capacity checked (e.g. 50-seat coach for 36 pax), driver details loaded.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5257800"/>
            <a:ext cx="11094415" cy="10058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2563EB"/>
                </a:solidFill>
              </a:defRPr>
            </a:pPr>
            <a:r>
              <a:t>4. Client Confirmation Checkpoint</a:t>
            </a:r>
          </a:p>
          <a:p>
            <a:pPr>
              <a:spcBef>
                <a:spcPts val="400"/>
              </a:spcBef>
              <a:defRPr sz="1200">
                <a:solidFill>
                  <a:srgbClr val="1E293B"/>
                </a:solidFill>
              </a:defRPr>
            </a:pPr>
            <a:r>
              <a:t>Client B2B tour operator contract signed and initial tour deposit confirmed in system.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Transition Gate: In Progress -&gt; Completed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326880" y="274320"/>
            <a:ext cx="2286000" cy="41148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CLOSING GATES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109441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E293B"/>
                </a:solidFill>
              </a:defRPr>
            </a:pPr>
            <a:r>
              <a:t>To transition a tour status to COMPLETED, the system enforces 3 Completion Criteria: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11680"/>
            <a:ext cx="11094415" cy="11887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10B981"/>
                </a:solidFill>
              </a:defRPr>
            </a:pPr>
            <a:r>
              <a:t>1. Return Date Reached</a:t>
            </a:r>
          </a:p>
          <a:p>
            <a:pPr>
              <a:spcBef>
                <a:spcPts val="600"/>
              </a:spcBef>
              <a:defRPr sz="1300">
                <a:solidFill>
                  <a:srgbClr val="1E293B"/>
                </a:solidFill>
              </a:defRPr>
            </a:pPr>
            <a:r>
              <a:t>System date ≥ EndDate (Passengers departure completed and flights departed).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383280"/>
            <a:ext cx="11094415" cy="11887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10B981"/>
                </a:solidFill>
              </a:defRPr>
            </a:pPr>
            <a:r>
              <a:t>2. 100% Expenses &amp; Revenue Reconciliation</a:t>
            </a:r>
          </a:p>
          <a:p>
            <a:pPr>
              <a:spcBef>
                <a:spcPts val="600"/>
              </a:spcBef>
              <a:defRPr sz="1300">
                <a:solidFill>
                  <a:srgbClr val="1E293B"/>
                </a:solidFill>
              </a:defRPr>
            </a:pPr>
            <a:r>
              <a:t>All supplier invoice costs (Hotels, Guides, Transport, Extras) and client revenue items entered and matched.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4754880"/>
            <a:ext cx="11094415" cy="11887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10B981"/>
                </a:solidFill>
              </a:defRPr>
            </a:pPr>
            <a:r>
              <a:t>3. Accounting Closed Flag</a:t>
            </a:r>
          </a:p>
          <a:p>
            <a:pPr>
              <a:spcBef>
                <a:spcPts val="600"/>
              </a:spcBef>
              <a:defRPr sz="1300">
                <a:solidFill>
                  <a:srgbClr val="1E293B"/>
                </a:solidFill>
              </a:defRPr>
            </a:pPr>
            <a:r>
              <a:t>Financial accounting audit completed and locked by Finance Administrator.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Automated SLA Warning Notification Module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326880" y="274320"/>
            <a:ext cx="2286000" cy="41148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WARNING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109441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E293B"/>
                </a:solidFill>
              </a:defRPr>
            </a:pPr>
            <a:r>
              <a:t>Automated Time-Window Warning Notifications: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37360"/>
            <a:ext cx="11094415" cy="105156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59E0B"/>
                </a:solidFill>
              </a:defRPr>
            </a:pPr>
            <a:r>
              <a:t>⚠️ Warning Alert: 7 Days to Departure</a:t>
            </a:r>
          </a:p>
          <a:p>
            <a:pPr>
              <a:spcBef>
                <a:spcPts val="400"/>
              </a:spcBef>
              <a:defRPr sz="1200">
                <a:solidFill>
                  <a:srgbClr val="1E293B"/>
                </a:solidFill>
              </a:defRPr>
            </a:pPr>
            <a:r>
              <a:t>Triggers if Hotel reservation or Transport company is still UNCONFIRMED 7 days prior to Arrival Date.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926080"/>
            <a:ext cx="11094415" cy="105156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43F5E"/>
                </a:solidFill>
              </a:defRPr>
            </a:pPr>
            <a:r>
              <a:t>⚠️ Warning Alert: 3 Days to Departure</a:t>
            </a:r>
          </a:p>
          <a:p>
            <a:pPr>
              <a:spcBef>
                <a:spcPts val="400"/>
              </a:spcBef>
              <a:defRPr sz="1200">
                <a:solidFill>
                  <a:srgbClr val="1E293B"/>
                </a:solidFill>
              </a:defRPr>
            </a:pPr>
            <a:r>
              <a:t>Triggers if Guide is UNASSIGNED or UNCONFIRMED 3 days prior to Arrival Date.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4114800"/>
            <a:ext cx="11094415" cy="105156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43F5E"/>
                </a:solidFill>
              </a:defRPr>
            </a:pPr>
            <a:r>
              <a:t>🚨 Critical Alert: 24 Hours to Departure</a:t>
            </a:r>
          </a:p>
          <a:p>
            <a:pPr>
              <a:spcBef>
                <a:spcPts val="400"/>
              </a:spcBef>
              <a:defRPr sz="1200">
                <a:solidFill>
                  <a:srgbClr val="1E293B"/>
                </a:solidFill>
              </a:defRPr>
            </a:pPr>
            <a:r>
              <a:t>Triggers if Passenger Flight Info or Rooming List is INCOMPLETE 24 hours prior to Arrival Date.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5303520"/>
            <a:ext cx="11094415" cy="105156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59E0B"/>
                </a:solidFill>
              </a:defRPr>
            </a:pPr>
            <a:r>
              <a:t>⚠️ Accounting Warning: 7 Days Post-Tour</a:t>
            </a:r>
          </a:p>
          <a:p>
            <a:pPr>
              <a:spcBef>
                <a:spcPts val="400"/>
              </a:spcBef>
              <a:defRPr sz="1200">
                <a:solidFill>
                  <a:srgbClr val="1E293B"/>
                </a:solidFill>
              </a:defRPr>
            </a:pPr>
            <a:r>
              <a:t>Triggers if Tour is Ended but Accounting Closed flag remains UNSET after 7 days.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